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5" r:id="rId3"/>
    <p:sldId id="257" r:id="rId4"/>
    <p:sldId id="275" r:id="rId5"/>
    <p:sldId id="267" r:id="rId6"/>
    <p:sldId id="268" r:id="rId7"/>
    <p:sldId id="274" r:id="rId8"/>
    <p:sldId id="259" r:id="rId9"/>
    <p:sldId id="261" r:id="rId10"/>
    <p:sldId id="262" r:id="rId11"/>
    <p:sldId id="263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50" dt="2026-10-08T16:40:12.871"/>
    <p1510:client id="{09F3A50B-CBF5-B736-B621-3D5E4B145542}" v="247" dt="2026-10-08T11:40:28.309"/>
    <p1510:client id="{23006189-0DE0-3404-E50C-F4286C08FAB8}" v="97" dt="2026-10-09T12:29:43.685"/>
    <p1510:client id="{2784293C-F18C-EF56-962F-2C50AE5B52CF}" v="1922" dt="2026-10-08T13:15:18.228"/>
    <p1510:client id="{5B2CC386-C0F6-6F45-D002-AA77093363C7}" v="476" dt="2026-10-08T13:34:40.958"/>
    <p1510:client id="{69B4D339-6F91-F729-46D5-5D0760637C3D}" v="253" dt="2026-10-08T12:59:31.064"/>
    <p1510:client id="{7F277BF1-7602-4C7C-D50B-9CEF6F714880}" v="140" dt="2026-10-08T15:44:15.164"/>
    <p1510:client id="{B9F3CE36-9BFD-7974-318E-F7AC1FCAFFCE}" v="212" dt="2026-10-09T11:39:43.704"/>
    <p1510:client id="{D3026347-C7E8-FDA5-C0D4-CF1A9BC72994}" v="70" dt="2026-10-09T11:18:03.597"/>
    <p1510:client id="{DC85D4A2-5718-C21B-3DB3-E0A384091A10}" v="12" dt="2026-10-09T11:32:41.810"/>
    <p1510:client id="{DFE37111-DC8D-DAEC-9D5C-CFBFD0DE8046}" v="809" dt="2026-10-08T13:43:25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54F43E-6C38-47BE-A4D7-799974BA252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FE097F-98E7-4846-A393-2653557E64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Import (Backend) – Bank transactions are pulled in from the Plaid API and stored in MySQL.</a:t>
          </a:r>
          <a:endParaRPr lang="en-US"/>
        </a:p>
      </dgm:t>
    </dgm:pt>
    <dgm:pt modelId="{0AC00EB6-7508-4D36-93A6-76F43CDE7811}" type="parTrans" cxnId="{20208090-82BE-4242-9D7C-82FFB6D05B1D}">
      <dgm:prSet/>
      <dgm:spPr/>
      <dgm:t>
        <a:bodyPr/>
        <a:lstStyle/>
        <a:p>
          <a:endParaRPr lang="en-US"/>
        </a:p>
      </dgm:t>
    </dgm:pt>
    <dgm:pt modelId="{C45BF99F-AECD-4916-A6BD-4B7EF9D5B1E2}" type="sibTrans" cxnId="{20208090-82BE-4242-9D7C-82FFB6D05B1D}">
      <dgm:prSet/>
      <dgm:spPr/>
      <dgm:t>
        <a:bodyPr/>
        <a:lstStyle/>
        <a:p>
          <a:endParaRPr lang="en-US"/>
        </a:p>
      </dgm:t>
    </dgm:pt>
    <dgm:pt modelId="{98375CAD-458F-4932-A8DE-8468FCEDA26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Access (Middle Tier) – Every transaction is checked against various fraud rules and allocated a Green, Amber or Red flag.</a:t>
          </a:r>
          <a:endParaRPr lang="en-US"/>
        </a:p>
      </dgm:t>
    </dgm:pt>
    <dgm:pt modelId="{909B63C4-EF2C-498E-8866-6AA2672F2779}" type="parTrans" cxnId="{483EB6F3-F44D-4B41-90ED-2D3CDB7FD7F6}">
      <dgm:prSet/>
      <dgm:spPr/>
      <dgm:t>
        <a:bodyPr/>
        <a:lstStyle/>
        <a:p>
          <a:endParaRPr lang="en-US"/>
        </a:p>
      </dgm:t>
    </dgm:pt>
    <dgm:pt modelId="{C550E9B6-52C1-48FF-868F-2F3F2068D949}" type="sibTrans" cxnId="{483EB6F3-F44D-4B41-90ED-2D3CDB7FD7F6}">
      <dgm:prSet/>
      <dgm:spPr/>
      <dgm:t>
        <a:bodyPr/>
        <a:lstStyle/>
        <a:p>
          <a:endParaRPr lang="en-US"/>
        </a:p>
      </dgm:t>
    </dgm:pt>
    <dgm:pt modelId="{2E28C87E-47C4-40EB-8BBE-1ED2598DBD4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Investigation (Frontend) – A user is then able to group transactions into a case, which can be updated or deleted.</a:t>
          </a:r>
          <a:endParaRPr lang="en-US"/>
        </a:p>
      </dgm:t>
    </dgm:pt>
    <dgm:pt modelId="{F40221B5-F928-4331-B174-B8E02BE23866}" type="parTrans" cxnId="{73369489-B7B4-479F-8023-B3182F2B0C9B}">
      <dgm:prSet/>
      <dgm:spPr/>
      <dgm:t>
        <a:bodyPr/>
        <a:lstStyle/>
        <a:p>
          <a:endParaRPr lang="en-US"/>
        </a:p>
      </dgm:t>
    </dgm:pt>
    <dgm:pt modelId="{4419B9E6-0EA7-4B72-9DE7-43F5E1F5443F}" type="sibTrans" cxnId="{73369489-B7B4-479F-8023-B3182F2B0C9B}">
      <dgm:prSet/>
      <dgm:spPr/>
      <dgm:t>
        <a:bodyPr/>
        <a:lstStyle/>
        <a:p>
          <a:endParaRPr lang="en-US"/>
        </a:p>
      </dgm:t>
    </dgm:pt>
    <dgm:pt modelId="{DC888D9B-DA7B-4EF4-9AF1-7F1D8807BFF7}" type="pres">
      <dgm:prSet presAssocID="{3354F43E-6C38-47BE-A4D7-799974BA2524}" presName="root" presStyleCnt="0">
        <dgm:presLayoutVars>
          <dgm:dir/>
          <dgm:resizeHandles val="exact"/>
        </dgm:presLayoutVars>
      </dgm:prSet>
      <dgm:spPr/>
    </dgm:pt>
    <dgm:pt modelId="{487088F7-448C-4229-9D14-97A8B3A62DDC}" type="pres">
      <dgm:prSet presAssocID="{A2FE097F-98E7-4846-A393-2653557E64A2}" presName="compNode" presStyleCnt="0"/>
      <dgm:spPr/>
    </dgm:pt>
    <dgm:pt modelId="{B4696B4C-8548-405D-B637-EED50908D1A3}" type="pres">
      <dgm:prSet presAssocID="{A2FE097F-98E7-4846-A393-2653557E64A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6991D0F-E632-435C-BF96-F4C338C0F625}" type="pres">
      <dgm:prSet presAssocID="{A2FE097F-98E7-4846-A393-2653557E64A2}" presName="spaceRect" presStyleCnt="0"/>
      <dgm:spPr/>
    </dgm:pt>
    <dgm:pt modelId="{F060FF05-8567-436C-A82A-F45310B81E16}" type="pres">
      <dgm:prSet presAssocID="{A2FE097F-98E7-4846-A393-2653557E64A2}" presName="textRect" presStyleLbl="revTx" presStyleIdx="0" presStyleCnt="3">
        <dgm:presLayoutVars>
          <dgm:chMax val="1"/>
          <dgm:chPref val="1"/>
        </dgm:presLayoutVars>
      </dgm:prSet>
      <dgm:spPr/>
    </dgm:pt>
    <dgm:pt modelId="{72A055EC-F5AD-481E-90DE-E24BCCC72121}" type="pres">
      <dgm:prSet presAssocID="{C45BF99F-AECD-4916-A6BD-4B7EF9D5B1E2}" presName="sibTrans" presStyleCnt="0"/>
      <dgm:spPr/>
    </dgm:pt>
    <dgm:pt modelId="{B3F0F555-6237-40E9-95E3-0EAACF371877}" type="pres">
      <dgm:prSet presAssocID="{98375CAD-458F-4932-A8DE-8468FCEDA265}" presName="compNode" presStyleCnt="0"/>
      <dgm:spPr/>
    </dgm:pt>
    <dgm:pt modelId="{B35D63A0-221C-4907-9E48-0D2F1E4690A0}" type="pres">
      <dgm:prSet presAssocID="{98375CAD-458F-4932-A8DE-8468FCEDA26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582A39A7-C830-43E6-976C-539E82A975B2}" type="pres">
      <dgm:prSet presAssocID="{98375CAD-458F-4932-A8DE-8468FCEDA265}" presName="spaceRect" presStyleCnt="0"/>
      <dgm:spPr/>
    </dgm:pt>
    <dgm:pt modelId="{FE1B14B6-1704-49A2-B164-D0529056B3C2}" type="pres">
      <dgm:prSet presAssocID="{98375CAD-458F-4932-A8DE-8468FCEDA265}" presName="textRect" presStyleLbl="revTx" presStyleIdx="1" presStyleCnt="3">
        <dgm:presLayoutVars>
          <dgm:chMax val="1"/>
          <dgm:chPref val="1"/>
        </dgm:presLayoutVars>
      </dgm:prSet>
      <dgm:spPr/>
    </dgm:pt>
    <dgm:pt modelId="{76982C22-6515-4DDC-95B1-F4957F2400B9}" type="pres">
      <dgm:prSet presAssocID="{C550E9B6-52C1-48FF-868F-2F3F2068D949}" presName="sibTrans" presStyleCnt="0"/>
      <dgm:spPr/>
    </dgm:pt>
    <dgm:pt modelId="{61F4E835-DBB3-46A9-9D31-A97764035481}" type="pres">
      <dgm:prSet presAssocID="{2E28C87E-47C4-40EB-8BBE-1ED2598DBD4F}" presName="compNode" presStyleCnt="0"/>
      <dgm:spPr/>
    </dgm:pt>
    <dgm:pt modelId="{6BE9FCD9-A813-463D-A1DB-BC84182F99B6}" type="pres">
      <dgm:prSet presAssocID="{2E28C87E-47C4-40EB-8BBE-1ED2598DBD4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38320CA2-335D-47AD-9269-BC7B3BB4EB6E}" type="pres">
      <dgm:prSet presAssocID="{2E28C87E-47C4-40EB-8BBE-1ED2598DBD4F}" presName="spaceRect" presStyleCnt="0"/>
      <dgm:spPr/>
    </dgm:pt>
    <dgm:pt modelId="{32C956E3-D0C5-4800-9E8F-778FDADAE5C3}" type="pres">
      <dgm:prSet presAssocID="{2E28C87E-47C4-40EB-8BBE-1ED2598DBD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1BBE85D-7403-461F-827F-205989DBA08B}" type="presOf" srcId="{3354F43E-6C38-47BE-A4D7-799974BA2524}" destId="{DC888D9B-DA7B-4EF4-9AF1-7F1D8807BFF7}" srcOrd="0" destOrd="0" presId="urn:microsoft.com/office/officeart/2018/2/layout/IconLabelList"/>
    <dgm:cxn modelId="{73369489-B7B4-479F-8023-B3182F2B0C9B}" srcId="{3354F43E-6C38-47BE-A4D7-799974BA2524}" destId="{2E28C87E-47C4-40EB-8BBE-1ED2598DBD4F}" srcOrd="2" destOrd="0" parTransId="{F40221B5-F928-4331-B174-B8E02BE23866}" sibTransId="{4419B9E6-0EA7-4B72-9DE7-43F5E1F5443F}"/>
    <dgm:cxn modelId="{887F0B8D-3E84-430B-BCEA-0E4C53E17E15}" type="presOf" srcId="{2E28C87E-47C4-40EB-8BBE-1ED2598DBD4F}" destId="{32C956E3-D0C5-4800-9E8F-778FDADAE5C3}" srcOrd="0" destOrd="0" presId="urn:microsoft.com/office/officeart/2018/2/layout/IconLabelList"/>
    <dgm:cxn modelId="{20208090-82BE-4242-9D7C-82FFB6D05B1D}" srcId="{3354F43E-6C38-47BE-A4D7-799974BA2524}" destId="{A2FE097F-98E7-4846-A393-2653557E64A2}" srcOrd="0" destOrd="0" parTransId="{0AC00EB6-7508-4D36-93A6-76F43CDE7811}" sibTransId="{C45BF99F-AECD-4916-A6BD-4B7EF9D5B1E2}"/>
    <dgm:cxn modelId="{50F50BC0-96DE-477D-B6F8-9A04B968E656}" type="presOf" srcId="{98375CAD-458F-4932-A8DE-8468FCEDA265}" destId="{FE1B14B6-1704-49A2-B164-D0529056B3C2}" srcOrd="0" destOrd="0" presId="urn:microsoft.com/office/officeart/2018/2/layout/IconLabelList"/>
    <dgm:cxn modelId="{4A7DF6D1-DF1F-4699-8A9A-1834BB5C1FD6}" type="presOf" srcId="{A2FE097F-98E7-4846-A393-2653557E64A2}" destId="{F060FF05-8567-436C-A82A-F45310B81E16}" srcOrd="0" destOrd="0" presId="urn:microsoft.com/office/officeart/2018/2/layout/IconLabelList"/>
    <dgm:cxn modelId="{483EB6F3-F44D-4B41-90ED-2D3CDB7FD7F6}" srcId="{3354F43E-6C38-47BE-A4D7-799974BA2524}" destId="{98375CAD-458F-4932-A8DE-8468FCEDA265}" srcOrd="1" destOrd="0" parTransId="{909B63C4-EF2C-498E-8866-6AA2672F2779}" sibTransId="{C550E9B6-52C1-48FF-868F-2F3F2068D949}"/>
    <dgm:cxn modelId="{009EF3E4-A8B9-4E77-B274-FFA0E23B5517}" type="presParOf" srcId="{DC888D9B-DA7B-4EF4-9AF1-7F1D8807BFF7}" destId="{487088F7-448C-4229-9D14-97A8B3A62DDC}" srcOrd="0" destOrd="0" presId="urn:microsoft.com/office/officeart/2018/2/layout/IconLabelList"/>
    <dgm:cxn modelId="{E3A92BB4-122D-48C3-BB6B-4E53B4ED2306}" type="presParOf" srcId="{487088F7-448C-4229-9D14-97A8B3A62DDC}" destId="{B4696B4C-8548-405D-B637-EED50908D1A3}" srcOrd="0" destOrd="0" presId="urn:microsoft.com/office/officeart/2018/2/layout/IconLabelList"/>
    <dgm:cxn modelId="{7D338D8A-ACE5-4D5E-B8C1-F466624CEA96}" type="presParOf" srcId="{487088F7-448C-4229-9D14-97A8B3A62DDC}" destId="{86991D0F-E632-435C-BF96-F4C338C0F625}" srcOrd="1" destOrd="0" presId="urn:microsoft.com/office/officeart/2018/2/layout/IconLabelList"/>
    <dgm:cxn modelId="{CFDB15A4-3E3C-4A95-8908-C4579F580E52}" type="presParOf" srcId="{487088F7-448C-4229-9D14-97A8B3A62DDC}" destId="{F060FF05-8567-436C-A82A-F45310B81E16}" srcOrd="2" destOrd="0" presId="urn:microsoft.com/office/officeart/2018/2/layout/IconLabelList"/>
    <dgm:cxn modelId="{F424A581-68F3-4909-A3AD-5D69044A4878}" type="presParOf" srcId="{DC888D9B-DA7B-4EF4-9AF1-7F1D8807BFF7}" destId="{72A055EC-F5AD-481E-90DE-E24BCCC72121}" srcOrd="1" destOrd="0" presId="urn:microsoft.com/office/officeart/2018/2/layout/IconLabelList"/>
    <dgm:cxn modelId="{9A4BF5B6-653F-46CA-949D-E098E8882C58}" type="presParOf" srcId="{DC888D9B-DA7B-4EF4-9AF1-7F1D8807BFF7}" destId="{B3F0F555-6237-40E9-95E3-0EAACF371877}" srcOrd="2" destOrd="0" presId="urn:microsoft.com/office/officeart/2018/2/layout/IconLabelList"/>
    <dgm:cxn modelId="{638547D4-2F58-4254-BAA6-BA1411B371A7}" type="presParOf" srcId="{B3F0F555-6237-40E9-95E3-0EAACF371877}" destId="{B35D63A0-221C-4907-9E48-0D2F1E4690A0}" srcOrd="0" destOrd="0" presId="urn:microsoft.com/office/officeart/2018/2/layout/IconLabelList"/>
    <dgm:cxn modelId="{CAD6F841-E2D8-4015-A54B-415D1164E250}" type="presParOf" srcId="{B3F0F555-6237-40E9-95E3-0EAACF371877}" destId="{582A39A7-C830-43E6-976C-539E82A975B2}" srcOrd="1" destOrd="0" presId="urn:microsoft.com/office/officeart/2018/2/layout/IconLabelList"/>
    <dgm:cxn modelId="{6B734822-1212-4F4D-990A-67B3AA0586A6}" type="presParOf" srcId="{B3F0F555-6237-40E9-95E3-0EAACF371877}" destId="{FE1B14B6-1704-49A2-B164-D0529056B3C2}" srcOrd="2" destOrd="0" presId="urn:microsoft.com/office/officeart/2018/2/layout/IconLabelList"/>
    <dgm:cxn modelId="{320CA84D-ADDD-4F61-8DDD-8AC98B60DB15}" type="presParOf" srcId="{DC888D9B-DA7B-4EF4-9AF1-7F1D8807BFF7}" destId="{76982C22-6515-4DDC-95B1-F4957F2400B9}" srcOrd="3" destOrd="0" presId="urn:microsoft.com/office/officeart/2018/2/layout/IconLabelList"/>
    <dgm:cxn modelId="{8C72984F-EEE5-4DF0-AD02-73892554B9C3}" type="presParOf" srcId="{DC888D9B-DA7B-4EF4-9AF1-7F1D8807BFF7}" destId="{61F4E835-DBB3-46A9-9D31-A97764035481}" srcOrd="4" destOrd="0" presId="urn:microsoft.com/office/officeart/2018/2/layout/IconLabelList"/>
    <dgm:cxn modelId="{6D75B132-3723-46A1-AE83-9E7DD888C9F5}" type="presParOf" srcId="{61F4E835-DBB3-46A9-9D31-A97764035481}" destId="{6BE9FCD9-A813-463D-A1DB-BC84182F99B6}" srcOrd="0" destOrd="0" presId="urn:microsoft.com/office/officeart/2018/2/layout/IconLabelList"/>
    <dgm:cxn modelId="{D322AE5D-C33A-49B0-AAE0-C0988116E642}" type="presParOf" srcId="{61F4E835-DBB3-46A9-9D31-A97764035481}" destId="{38320CA2-335D-47AD-9269-BC7B3BB4EB6E}" srcOrd="1" destOrd="0" presId="urn:microsoft.com/office/officeart/2018/2/layout/IconLabelList"/>
    <dgm:cxn modelId="{9CC9905A-87BC-4849-BBA2-ACEDBA458435}" type="presParOf" srcId="{61F4E835-DBB3-46A9-9D31-A97764035481}" destId="{32C956E3-D0C5-4800-9E8F-778FDADAE5C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00D4B8-A849-4283-80BF-A1A768B2A6BE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F89D9CCF-7FBA-427D-A459-A5ECBB0E7ED8}">
      <dgm:prSet/>
      <dgm:spPr/>
      <dgm:t>
        <a:bodyPr/>
        <a:lstStyle/>
        <a:p>
          <a:r>
            <a:rPr lang="en-GB"/>
            <a:t>Explainable – Every flag states which rule was alerted by a transaction and why giving a user further explanation.</a:t>
          </a:r>
          <a:endParaRPr lang="en-US"/>
        </a:p>
      </dgm:t>
    </dgm:pt>
    <dgm:pt modelId="{BEC55930-4F34-40CC-8F86-EDEED36B16E1}" type="parTrans" cxnId="{EFFED970-D9BA-452B-B636-FCEA63747C5E}">
      <dgm:prSet/>
      <dgm:spPr/>
      <dgm:t>
        <a:bodyPr/>
        <a:lstStyle/>
        <a:p>
          <a:endParaRPr lang="en-US"/>
        </a:p>
      </dgm:t>
    </dgm:pt>
    <dgm:pt modelId="{CC0AC562-5DD9-413B-9378-AF8E4BC6CC58}" type="sibTrans" cxnId="{EFFED970-D9BA-452B-B636-FCEA63747C5E}">
      <dgm:prSet/>
      <dgm:spPr/>
      <dgm:t>
        <a:bodyPr/>
        <a:lstStyle/>
        <a:p>
          <a:endParaRPr lang="en-US"/>
        </a:p>
      </dgm:t>
    </dgm:pt>
    <dgm:pt modelId="{1C6C5931-4343-4D18-8765-74142340C366}">
      <dgm:prSet/>
      <dgm:spPr/>
      <dgm:t>
        <a:bodyPr/>
        <a:lstStyle/>
        <a:p>
          <a:r>
            <a:rPr lang="en-GB"/>
            <a:t>User forward – Although the application determines fraudulent transactions, it is up to the user to determine if these transactions are worthy of a case.</a:t>
          </a:r>
          <a:endParaRPr lang="en-US"/>
        </a:p>
      </dgm:t>
    </dgm:pt>
    <dgm:pt modelId="{1D497C6C-9D96-40C5-997A-770F6A9CE0F9}" type="parTrans" cxnId="{1CDB7D16-FD61-4FC8-90DB-4A8C71258B88}">
      <dgm:prSet/>
      <dgm:spPr/>
      <dgm:t>
        <a:bodyPr/>
        <a:lstStyle/>
        <a:p>
          <a:endParaRPr lang="en-US"/>
        </a:p>
      </dgm:t>
    </dgm:pt>
    <dgm:pt modelId="{C209B4EF-891D-48EA-ABF9-7A6DAE843A9A}" type="sibTrans" cxnId="{1CDB7D16-FD61-4FC8-90DB-4A8C71258B88}">
      <dgm:prSet/>
      <dgm:spPr/>
      <dgm:t>
        <a:bodyPr/>
        <a:lstStyle/>
        <a:p>
          <a:endParaRPr lang="en-US"/>
        </a:p>
      </dgm:t>
    </dgm:pt>
    <dgm:pt modelId="{C7215809-6D6F-4004-8FC6-5B8AA9936AC7}">
      <dgm:prSet/>
      <dgm:spPr/>
      <dgm:t>
        <a:bodyPr/>
        <a:lstStyle/>
        <a:p>
          <a:r>
            <a:rPr lang="en-GB"/>
            <a:t>Real banking data – By using Plaids API we are able to gain better insight into what data makes up a transaction and account for a more realistic application.</a:t>
          </a:r>
          <a:endParaRPr lang="en-US"/>
        </a:p>
      </dgm:t>
    </dgm:pt>
    <dgm:pt modelId="{FB1FD871-376B-4C97-B968-2E7D121B9C4E}" type="parTrans" cxnId="{2937447E-5833-4A99-BD28-01C46BDA0CBD}">
      <dgm:prSet/>
      <dgm:spPr/>
      <dgm:t>
        <a:bodyPr/>
        <a:lstStyle/>
        <a:p>
          <a:endParaRPr lang="en-US"/>
        </a:p>
      </dgm:t>
    </dgm:pt>
    <dgm:pt modelId="{BFA18568-90EC-4050-A231-55963EF8429A}" type="sibTrans" cxnId="{2937447E-5833-4A99-BD28-01C46BDA0CBD}">
      <dgm:prSet/>
      <dgm:spPr/>
      <dgm:t>
        <a:bodyPr/>
        <a:lstStyle/>
        <a:p>
          <a:endParaRPr lang="en-US"/>
        </a:p>
      </dgm:t>
    </dgm:pt>
    <dgm:pt modelId="{FB3E8AAB-F5E0-443E-926E-9B150AE5AC98}" type="pres">
      <dgm:prSet presAssocID="{6D00D4B8-A849-4283-80BF-A1A768B2A6BE}" presName="diagram" presStyleCnt="0">
        <dgm:presLayoutVars>
          <dgm:dir/>
          <dgm:resizeHandles val="exact"/>
        </dgm:presLayoutVars>
      </dgm:prSet>
      <dgm:spPr/>
    </dgm:pt>
    <dgm:pt modelId="{76033D63-3497-4966-98CD-4009BE324EE5}" type="pres">
      <dgm:prSet presAssocID="{F89D9CCF-7FBA-427D-A459-A5ECBB0E7ED8}" presName="node" presStyleLbl="node1" presStyleIdx="0" presStyleCnt="3">
        <dgm:presLayoutVars>
          <dgm:bulletEnabled val="1"/>
        </dgm:presLayoutVars>
      </dgm:prSet>
      <dgm:spPr/>
    </dgm:pt>
    <dgm:pt modelId="{BA8082F2-08D6-4EBB-9955-9C47734226ED}" type="pres">
      <dgm:prSet presAssocID="{CC0AC562-5DD9-413B-9378-AF8E4BC6CC58}" presName="sibTrans" presStyleCnt="0"/>
      <dgm:spPr/>
    </dgm:pt>
    <dgm:pt modelId="{4BC70372-719E-40F9-B275-9E83BF414DC1}" type="pres">
      <dgm:prSet presAssocID="{1C6C5931-4343-4D18-8765-74142340C366}" presName="node" presStyleLbl="node1" presStyleIdx="1" presStyleCnt="3">
        <dgm:presLayoutVars>
          <dgm:bulletEnabled val="1"/>
        </dgm:presLayoutVars>
      </dgm:prSet>
      <dgm:spPr/>
    </dgm:pt>
    <dgm:pt modelId="{D8CBF0A2-8B9E-4D0E-9FFE-D9607A3E5E9C}" type="pres">
      <dgm:prSet presAssocID="{C209B4EF-891D-48EA-ABF9-7A6DAE843A9A}" presName="sibTrans" presStyleCnt="0"/>
      <dgm:spPr/>
    </dgm:pt>
    <dgm:pt modelId="{311D7DB7-623E-4752-B23B-DF3C189D11D3}" type="pres">
      <dgm:prSet presAssocID="{C7215809-6D6F-4004-8FC6-5B8AA9936AC7}" presName="node" presStyleLbl="node1" presStyleIdx="2" presStyleCnt="3">
        <dgm:presLayoutVars>
          <dgm:bulletEnabled val="1"/>
        </dgm:presLayoutVars>
      </dgm:prSet>
      <dgm:spPr/>
    </dgm:pt>
  </dgm:ptLst>
  <dgm:cxnLst>
    <dgm:cxn modelId="{1CDB7D16-FD61-4FC8-90DB-4A8C71258B88}" srcId="{6D00D4B8-A849-4283-80BF-A1A768B2A6BE}" destId="{1C6C5931-4343-4D18-8765-74142340C366}" srcOrd="1" destOrd="0" parTransId="{1D497C6C-9D96-40C5-997A-770F6A9CE0F9}" sibTransId="{C209B4EF-891D-48EA-ABF9-7A6DAE843A9A}"/>
    <dgm:cxn modelId="{D73DC623-B806-409A-966A-27CBB818AF4F}" type="presOf" srcId="{1C6C5931-4343-4D18-8765-74142340C366}" destId="{4BC70372-719E-40F9-B275-9E83BF414DC1}" srcOrd="0" destOrd="0" presId="urn:microsoft.com/office/officeart/2005/8/layout/default"/>
    <dgm:cxn modelId="{7E3ACD23-C744-4E5A-A3A8-06EC5382DE8C}" type="presOf" srcId="{6D00D4B8-A849-4283-80BF-A1A768B2A6BE}" destId="{FB3E8AAB-F5E0-443E-926E-9B150AE5AC98}" srcOrd="0" destOrd="0" presId="urn:microsoft.com/office/officeart/2005/8/layout/default"/>
    <dgm:cxn modelId="{EFFED970-D9BA-452B-B636-FCEA63747C5E}" srcId="{6D00D4B8-A849-4283-80BF-A1A768B2A6BE}" destId="{F89D9CCF-7FBA-427D-A459-A5ECBB0E7ED8}" srcOrd="0" destOrd="0" parTransId="{BEC55930-4F34-40CC-8F86-EDEED36B16E1}" sibTransId="{CC0AC562-5DD9-413B-9378-AF8E4BC6CC58}"/>
    <dgm:cxn modelId="{2937447E-5833-4A99-BD28-01C46BDA0CBD}" srcId="{6D00D4B8-A849-4283-80BF-A1A768B2A6BE}" destId="{C7215809-6D6F-4004-8FC6-5B8AA9936AC7}" srcOrd="2" destOrd="0" parTransId="{FB1FD871-376B-4C97-B968-2E7D121B9C4E}" sibTransId="{BFA18568-90EC-4050-A231-55963EF8429A}"/>
    <dgm:cxn modelId="{A40C9BBC-E621-4B91-B863-AD54BB617E55}" type="presOf" srcId="{F89D9CCF-7FBA-427D-A459-A5ECBB0E7ED8}" destId="{76033D63-3497-4966-98CD-4009BE324EE5}" srcOrd="0" destOrd="0" presId="urn:microsoft.com/office/officeart/2005/8/layout/default"/>
    <dgm:cxn modelId="{4E9925CD-3629-4C96-B23E-C436EF8A529D}" type="presOf" srcId="{C7215809-6D6F-4004-8FC6-5B8AA9936AC7}" destId="{311D7DB7-623E-4752-B23B-DF3C189D11D3}" srcOrd="0" destOrd="0" presId="urn:microsoft.com/office/officeart/2005/8/layout/default"/>
    <dgm:cxn modelId="{3029B0E1-5393-4194-AE84-06648C595B88}" type="presParOf" srcId="{FB3E8AAB-F5E0-443E-926E-9B150AE5AC98}" destId="{76033D63-3497-4966-98CD-4009BE324EE5}" srcOrd="0" destOrd="0" presId="urn:microsoft.com/office/officeart/2005/8/layout/default"/>
    <dgm:cxn modelId="{F8215CC7-CFD0-4C01-AD7E-FC6B46C9B3F5}" type="presParOf" srcId="{FB3E8AAB-F5E0-443E-926E-9B150AE5AC98}" destId="{BA8082F2-08D6-4EBB-9955-9C47734226ED}" srcOrd="1" destOrd="0" presId="urn:microsoft.com/office/officeart/2005/8/layout/default"/>
    <dgm:cxn modelId="{59915E24-2E19-4BA0-BE08-681125FC0E52}" type="presParOf" srcId="{FB3E8AAB-F5E0-443E-926E-9B150AE5AC98}" destId="{4BC70372-719E-40F9-B275-9E83BF414DC1}" srcOrd="2" destOrd="0" presId="urn:microsoft.com/office/officeart/2005/8/layout/default"/>
    <dgm:cxn modelId="{63582ED6-D34B-4D23-BD2E-A08E7F9E9A5E}" type="presParOf" srcId="{FB3E8AAB-F5E0-443E-926E-9B150AE5AC98}" destId="{D8CBF0A2-8B9E-4D0E-9FFE-D9607A3E5E9C}" srcOrd="3" destOrd="0" presId="urn:microsoft.com/office/officeart/2005/8/layout/default"/>
    <dgm:cxn modelId="{7851263A-93EA-487F-B7B8-68F21CD73E33}" type="presParOf" srcId="{FB3E8AAB-F5E0-443E-926E-9B150AE5AC98}" destId="{311D7DB7-623E-4752-B23B-DF3C189D11D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2154D3-EAC4-4CC8-A4C6-A59BE74756F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E5747FF-0F4F-4D64-A45F-914B56E564FE}">
      <dgm:prSet/>
      <dgm:spPr/>
      <dgm:t>
        <a:bodyPr/>
        <a:lstStyle/>
        <a:p>
          <a:r>
            <a:rPr lang="en-GB"/>
            <a:t>React front end</a:t>
          </a:r>
          <a:endParaRPr lang="en-US"/>
        </a:p>
      </dgm:t>
    </dgm:pt>
    <dgm:pt modelId="{3A4FAD3C-C156-4F12-BCA2-BEE1B7045C5A}" type="parTrans" cxnId="{F600B77A-A8BD-42A6-B15D-0183DB4242BB}">
      <dgm:prSet/>
      <dgm:spPr/>
      <dgm:t>
        <a:bodyPr/>
        <a:lstStyle/>
        <a:p>
          <a:endParaRPr lang="en-US"/>
        </a:p>
      </dgm:t>
    </dgm:pt>
    <dgm:pt modelId="{C3AE64A7-623C-4A30-A88D-C75D08C379CA}" type="sibTrans" cxnId="{F600B77A-A8BD-42A6-B15D-0183DB4242BB}">
      <dgm:prSet/>
      <dgm:spPr/>
      <dgm:t>
        <a:bodyPr/>
        <a:lstStyle/>
        <a:p>
          <a:endParaRPr lang="en-US"/>
        </a:p>
      </dgm:t>
    </dgm:pt>
    <dgm:pt modelId="{CA2992E2-C44C-46B3-A43B-1A06E55C0420}">
      <dgm:prSet/>
      <dgm:spPr/>
      <dgm:t>
        <a:bodyPr/>
        <a:lstStyle/>
        <a:p>
          <a:r>
            <a:rPr lang="en-GB"/>
            <a:t>Java Service Layer</a:t>
          </a:r>
          <a:endParaRPr lang="en-US"/>
        </a:p>
      </dgm:t>
    </dgm:pt>
    <dgm:pt modelId="{B70A10C0-A187-45C5-8163-9A03E28379B6}" type="parTrans" cxnId="{963D0E36-CF1C-4985-9063-7B42877A302E}">
      <dgm:prSet/>
      <dgm:spPr/>
      <dgm:t>
        <a:bodyPr/>
        <a:lstStyle/>
        <a:p>
          <a:endParaRPr lang="en-US"/>
        </a:p>
      </dgm:t>
    </dgm:pt>
    <dgm:pt modelId="{5EF95AF2-A984-40CF-93EF-C5FB35907E39}" type="sibTrans" cxnId="{963D0E36-CF1C-4985-9063-7B42877A302E}">
      <dgm:prSet/>
      <dgm:spPr/>
      <dgm:t>
        <a:bodyPr/>
        <a:lstStyle/>
        <a:p>
          <a:endParaRPr lang="en-US"/>
        </a:p>
      </dgm:t>
    </dgm:pt>
    <dgm:pt modelId="{96A4688F-B47E-4599-A5FE-A16606FD1388}">
      <dgm:prSet/>
      <dgm:spPr/>
      <dgm:t>
        <a:bodyPr/>
        <a:lstStyle/>
        <a:p>
          <a:r>
            <a:rPr lang="en-GB"/>
            <a:t>HTTP endpoints</a:t>
          </a:r>
          <a:endParaRPr lang="en-US"/>
        </a:p>
      </dgm:t>
    </dgm:pt>
    <dgm:pt modelId="{202F5BFF-5CB7-4494-AD17-53FDA05722CF}" type="parTrans" cxnId="{A5374763-4B28-4913-A966-F1224B660B38}">
      <dgm:prSet/>
      <dgm:spPr/>
      <dgm:t>
        <a:bodyPr/>
        <a:lstStyle/>
        <a:p>
          <a:endParaRPr lang="en-US"/>
        </a:p>
      </dgm:t>
    </dgm:pt>
    <dgm:pt modelId="{AC56243E-1D5C-426C-8D5D-B1527F82EA8F}" type="sibTrans" cxnId="{A5374763-4B28-4913-A966-F1224B660B38}">
      <dgm:prSet/>
      <dgm:spPr/>
      <dgm:t>
        <a:bodyPr/>
        <a:lstStyle/>
        <a:p>
          <a:endParaRPr lang="en-US"/>
        </a:p>
      </dgm:t>
    </dgm:pt>
    <dgm:pt modelId="{5E3FB397-BCAA-43BE-803E-9B7143B06B69}">
      <dgm:prSet/>
      <dgm:spPr/>
      <dgm:t>
        <a:bodyPr/>
        <a:lstStyle/>
        <a:p>
          <a:r>
            <a:rPr lang="en-GB"/>
            <a:t>SQL Database</a:t>
          </a:r>
          <a:endParaRPr lang="en-US"/>
        </a:p>
      </dgm:t>
    </dgm:pt>
    <dgm:pt modelId="{9A720BB4-0F09-42D8-8932-54E9A2522F5C}" type="parTrans" cxnId="{78D9C18A-65D3-4979-8706-F5D32AAC91B7}">
      <dgm:prSet/>
      <dgm:spPr/>
      <dgm:t>
        <a:bodyPr/>
        <a:lstStyle/>
        <a:p>
          <a:endParaRPr lang="en-US"/>
        </a:p>
      </dgm:t>
    </dgm:pt>
    <dgm:pt modelId="{F821FDEA-D3E3-49CC-9CFF-5494BA31FB06}" type="sibTrans" cxnId="{78D9C18A-65D3-4979-8706-F5D32AAC91B7}">
      <dgm:prSet/>
      <dgm:spPr/>
      <dgm:t>
        <a:bodyPr/>
        <a:lstStyle/>
        <a:p>
          <a:endParaRPr lang="en-US"/>
        </a:p>
      </dgm:t>
    </dgm:pt>
    <dgm:pt modelId="{8E0DC4E9-4055-4F57-ADD0-8CB2950FD757}">
      <dgm:prSet phldrT="[Text]" phldr="0"/>
      <dgm:spPr/>
      <dgm:t>
        <a:bodyPr/>
        <a:lstStyle/>
        <a:p>
          <a:pPr rtl="0"/>
          <a:r>
            <a:rPr lang="en-GB">
              <a:latin typeface="Aptos Display" panose="02110004020202020204"/>
            </a:rPr>
            <a:t>Spring Boot</a:t>
          </a:r>
        </a:p>
      </dgm:t>
    </dgm:pt>
    <dgm:pt modelId="{8B81C275-0FE5-4431-B52C-CE36CA1405DA}" type="parTrans" cxnId="{4242143F-F59D-4D74-8C62-B54E6FAC26BE}">
      <dgm:prSet/>
      <dgm:spPr/>
    </dgm:pt>
    <dgm:pt modelId="{91E58E84-E349-471B-A27D-B8A505B0D24D}" type="sibTrans" cxnId="{4242143F-F59D-4D74-8C62-B54E6FAC26BE}">
      <dgm:prSet/>
      <dgm:spPr/>
    </dgm:pt>
    <dgm:pt modelId="{36E4B0F4-0640-4607-BB11-A27EAADC0EA0}" type="pres">
      <dgm:prSet presAssocID="{AE2154D3-EAC4-4CC8-A4C6-A59BE74756F8}" presName="linear" presStyleCnt="0">
        <dgm:presLayoutVars>
          <dgm:animLvl val="lvl"/>
          <dgm:resizeHandles val="exact"/>
        </dgm:presLayoutVars>
      </dgm:prSet>
      <dgm:spPr/>
    </dgm:pt>
    <dgm:pt modelId="{A2D9EC22-790F-437C-91EC-7BFB85C4E359}" type="pres">
      <dgm:prSet presAssocID="{7E5747FF-0F4F-4D64-A45F-914B56E564F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452344-0DBB-462E-B037-A7CE70DDF8F8}" type="pres">
      <dgm:prSet presAssocID="{C3AE64A7-623C-4A30-A88D-C75D08C379CA}" presName="spacer" presStyleCnt="0"/>
      <dgm:spPr/>
    </dgm:pt>
    <dgm:pt modelId="{0CC35027-4EFD-4838-8817-04C647F4AAA2}" type="pres">
      <dgm:prSet presAssocID="{CA2992E2-C44C-46B3-A43B-1A06E55C042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F9B1258-933B-44FE-9F2A-F35F624342D5}" type="pres">
      <dgm:prSet presAssocID="{5EF95AF2-A984-40CF-93EF-C5FB35907E39}" presName="spacer" presStyleCnt="0"/>
      <dgm:spPr/>
    </dgm:pt>
    <dgm:pt modelId="{B757EFBD-2720-411A-8C5A-A6DC4231536C}" type="pres">
      <dgm:prSet presAssocID="{96A4688F-B47E-4599-A5FE-A16606FD138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BF66CC-6E3F-4794-B7F3-377945FBC002}" type="pres">
      <dgm:prSet presAssocID="{AC56243E-1D5C-426C-8D5D-B1527F82EA8F}" presName="spacer" presStyleCnt="0"/>
      <dgm:spPr/>
    </dgm:pt>
    <dgm:pt modelId="{91354376-A123-4D55-B5D5-BFB97B976921}" type="pres">
      <dgm:prSet presAssocID="{5E3FB397-BCAA-43BE-803E-9B7143B06B6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F7B62F-77E6-4715-8F62-91B3882BAF3E}" type="pres">
      <dgm:prSet presAssocID="{F821FDEA-D3E3-49CC-9CFF-5494BA31FB06}" presName="spacer" presStyleCnt="0"/>
      <dgm:spPr/>
    </dgm:pt>
    <dgm:pt modelId="{6EF8A336-314D-4C27-9270-053451862F34}" type="pres">
      <dgm:prSet presAssocID="{8E0DC4E9-4055-4F57-ADD0-8CB2950FD75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59E2F0F-8153-4DDF-ADCB-91537EBFCFAD}" type="presOf" srcId="{5E3FB397-BCAA-43BE-803E-9B7143B06B69}" destId="{91354376-A123-4D55-B5D5-BFB97B976921}" srcOrd="0" destOrd="0" presId="urn:microsoft.com/office/officeart/2005/8/layout/vList2"/>
    <dgm:cxn modelId="{963D0E36-CF1C-4985-9063-7B42877A302E}" srcId="{AE2154D3-EAC4-4CC8-A4C6-A59BE74756F8}" destId="{CA2992E2-C44C-46B3-A43B-1A06E55C0420}" srcOrd="1" destOrd="0" parTransId="{B70A10C0-A187-45C5-8163-9A03E28379B6}" sibTransId="{5EF95AF2-A984-40CF-93EF-C5FB35907E39}"/>
    <dgm:cxn modelId="{4242143F-F59D-4D74-8C62-B54E6FAC26BE}" srcId="{AE2154D3-EAC4-4CC8-A4C6-A59BE74756F8}" destId="{8E0DC4E9-4055-4F57-ADD0-8CB2950FD757}" srcOrd="4" destOrd="0" parTransId="{8B81C275-0FE5-4431-B52C-CE36CA1405DA}" sibTransId="{91E58E84-E349-471B-A27D-B8A505B0D24D}"/>
    <dgm:cxn modelId="{82234A5F-7081-485C-A4A9-2A72B0FD06E8}" type="presOf" srcId="{96A4688F-B47E-4599-A5FE-A16606FD1388}" destId="{B757EFBD-2720-411A-8C5A-A6DC4231536C}" srcOrd="0" destOrd="0" presId="urn:microsoft.com/office/officeart/2005/8/layout/vList2"/>
    <dgm:cxn modelId="{A5374763-4B28-4913-A966-F1224B660B38}" srcId="{AE2154D3-EAC4-4CC8-A4C6-A59BE74756F8}" destId="{96A4688F-B47E-4599-A5FE-A16606FD1388}" srcOrd="2" destOrd="0" parTransId="{202F5BFF-5CB7-4494-AD17-53FDA05722CF}" sibTransId="{AC56243E-1D5C-426C-8D5D-B1527F82EA8F}"/>
    <dgm:cxn modelId="{F600B77A-A8BD-42A6-B15D-0183DB4242BB}" srcId="{AE2154D3-EAC4-4CC8-A4C6-A59BE74756F8}" destId="{7E5747FF-0F4F-4D64-A45F-914B56E564FE}" srcOrd="0" destOrd="0" parTransId="{3A4FAD3C-C156-4F12-BCA2-BEE1B7045C5A}" sibTransId="{C3AE64A7-623C-4A30-A88D-C75D08C379CA}"/>
    <dgm:cxn modelId="{BBADE75A-FBFB-4C83-9663-69748D7CB910}" type="presOf" srcId="{8E0DC4E9-4055-4F57-ADD0-8CB2950FD757}" destId="{6EF8A336-314D-4C27-9270-053451862F34}" srcOrd="0" destOrd="0" presId="urn:microsoft.com/office/officeart/2005/8/layout/vList2"/>
    <dgm:cxn modelId="{78D9C18A-65D3-4979-8706-F5D32AAC91B7}" srcId="{AE2154D3-EAC4-4CC8-A4C6-A59BE74756F8}" destId="{5E3FB397-BCAA-43BE-803E-9B7143B06B69}" srcOrd="3" destOrd="0" parTransId="{9A720BB4-0F09-42D8-8932-54E9A2522F5C}" sibTransId="{F821FDEA-D3E3-49CC-9CFF-5494BA31FB06}"/>
    <dgm:cxn modelId="{7F423DA7-7485-4317-81E8-F10A572D04E8}" type="presOf" srcId="{CA2992E2-C44C-46B3-A43B-1A06E55C0420}" destId="{0CC35027-4EFD-4838-8817-04C647F4AAA2}" srcOrd="0" destOrd="0" presId="urn:microsoft.com/office/officeart/2005/8/layout/vList2"/>
    <dgm:cxn modelId="{985321B6-BFAC-4C43-BBAB-86E3DF9F1125}" type="presOf" srcId="{AE2154D3-EAC4-4CC8-A4C6-A59BE74756F8}" destId="{36E4B0F4-0640-4607-BB11-A27EAADC0EA0}" srcOrd="0" destOrd="0" presId="urn:microsoft.com/office/officeart/2005/8/layout/vList2"/>
    <dgm:cxn modelId="{C0510DFE-F424-4A4B-81A0-940FA4E32C6C}" type="presOf" srcId="{7E5747FF-0F4F-4D64-A45F-914B56E564FE}" destId="{A2D9EC22-790F-437C-91EC-7BFB85C4E359}" srcOrd="0" destOrd="0" presId="urn:microsoft.com/office/officeart/2005/8/layout/vList2"/>
    <dgm:cxn modelId="{D6D764B5-17C7-4D22-BDAF-643B63D23D13}" type="presParOf" srcId="{36E4B0F4-0640-4607-BB11-A27EAADC0EA0}" destId="{A2D9EC22-790F-437C-91EC-7BFB85C4E359}" srcOrd="0" destOrd="0" presId="urn:microsoft.com/office/officeart/2005/8/layout/vList2"/>
    <dgm:cxn modelId="{94E071EB-66C6-4066-B0B6-61651BCB908C}" type="presParOf" srcId="{36E4B0F4-0640-4607-BB11-A27EAADC0EA0}" destId="{E7452344-0DBB-462E-B037-A7CE70DDF8F8}" srcOrd="1" destOrd="0" presId="urn:microsoft.com/office/officeart/2005/8/layout/vList2"/>
    <dgm:cxn modelId="{C6A45D7A-6027-4BAF-AE26-EFF8A6A551F3}" type="presParOf" srcId="{36E4B0F4-0640-4607-BB11-A27EAADC0EA0}" destId="{0CC35027-4EFD-4838-8817-04C647F4AAA2}" srcOrd="2" destOrd="0" presId="urn:microsoft.com/office/officeart/2005/8/layout/vList2"/>
    <dgm:cxn modelId="{F0A848BC-9469-43CD-9F86-F2F8832155D5}" type="presParOf" srcId="{36E4B0F4-0640-4607-BB11-A27EAADC0EA0}" destId="{EF9B1258-933B-44FE-9F2A-F35F624342D5}" srcOrd="3" destOrd="0" presId="urn:microsoft.com/office/officeart/2005/8/layout/vList2"/>
    <dgm:cxn modelId="{AD1B4149-0ECD-404E-B16A-B931BBDB7D6A}" type="presParOf" srcId="{36E4B0F4-0640-4607-BB11-A27EAADC0EA0}" destId="{B757EFBD-2720-411A-8C5A-A6DC4231536C}" srcOrd="4" destOrd="0" presId="urn:microsoft.com/office/officeart/2005/8/layout/vList2"/>
    <dgm:cxn modelId="{10FB7774-57BA-48B0-8355-30CA99EB562E}" type="presParOf" srcId="{36E4B0F4-0640-4607-BB11-A27EAADC0EA0}" destId="{C1BF66CC-6E3F-4794-B7F3-377945FBC002}" srcOrd="5" destOrd="0" presId="urn:microsoft.com/office/officeart/2005/8/layout/vList2"/>
    <dgm:cxn modelId="{0D3C1676-9E17-4314-BA6E-67A4064BC053}" type="presParOf" srcId="{36E4B0F4-0640-4607-BB11-A27EAADC0EA0}" destId="{91354376-A123-4D55-B5D5-BFB97B976921}" srcOrd="6" destOrd="0" presId="urn:microsoft.com/office/officeart/2005/8/layout/vList2"/>
    <dgm:cxn modelId="{126E800B-4155-47F1-AF7A-D791DDEC8667}" type="presParOf" srcId="{36E4B0F4-0640-4607-BB11-A27EAADC0EA0}" destId="{BEF7B62F-77E6-4715-8F62-91B3882BAF3E}" srcOrd="7" destOrd="0" presId="urn:microsoft.com/office/officeart/2005/8/layout/vList2"/>
    <dgm:cxn modelId="{E79E1CF6-0270-4A18-B7BC-1D970C488DE7}" type="presParOf" srcId="{36E4B0F4-0640-4607-BB11-A27EAADC0EA0}" destId="{6EF8A336-314D-4C27-9270-053451862F3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96B4C-8548-405D-B637-EED50908D1A3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0FF05-8567-436C-A82A-F45310B81E16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Import (Backend) – Bank transactions are pulled in from the Plaid API and stored in MySQL.</a:t>
          </a:r>
          <a:endParaRPr lang="en-US" sz="1200" kern="1200"/>
        </a:p>
      </dsp:txBody>
      <dsp:txXfrm>
        <a:off x="417971" y="2644140"/>
        <a:ext cx="2889450" cy="720000"/>
      </dsp:txXfrm>
    </dsp:sp>
    <dsp:sp modelId="{B35D63A0-221C-4907-9E48-0D2F1E4690A0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B14B6-1704-49A2-B164-D0529056B3C2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Access (Middle Tier) – Every transaction is checked against various fraud rules and allocated a Green, Amber or Red flag.</a:t>
          </a:r>
          <a:endParaRPr lang="en-US" sz="1200" kern="1200"/>
        </a:p>
      </dsp:txBody>
      <dsp:txXfrm>
        <a:off x="3813075" y="2644140"/>
        <a:ext cx="2889450" cy="720000"/>
      </dsp:txXfrm>
    </dsp:sp>
    <dsp:sp modelId="{6BE9FCD9-A813-463D-A1DB-BC84182F99B6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956E3-D0C5-4800-9E8F-778FDADAE5C3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Investigation (Frontend) – A user is then able to group transactions into a case, which can be updated or deleted.</a:t>
          </a:r>
          <a:endParaRPr lang="en-US" sz="1200" kern="1200"/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33D63-3497-4966-98CD-4009BE324EE5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Explainable – Every flag states which rule was alerted by a transaction and why giving a user further explanation.</a:t>
          </a:r>
          <a:endParaRPr lang="en-US" sz="2100" kern="1200"/>
        </a:p>
      </dsp:txBody>
      <dsp:txXfrm>
        <a:off x="0" y="1071918"/>
        <a:ext cx="3414946" cy="2048967"/>
      </dsp:txXfrm>
    </dsp:sp>
    <dsp:sp modelId="{4BC70372-719E-40F9-B275-9E83BF414DC1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User forward – Although the application determines fraudulent transactions, it is up to the user to determine if these transactions are worthy of a case.</a:t>
          </a:r>
          <a:endParaRPr lang="en-US" sz="2100" kern="1200"/>
        </a:p>
      </dsp:txBody>
      <dsp:txXfrm>
        <a:off x="3756441" y="1071918"/>
        <a:ext cx="3414946" cy="2048967"/>
      </dsp:txXfrm>
    </dsp:sp>
    <dsp:sp modelId="{311D7DB7-623E-4752-B23B-DF3C189D11D3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Real banking data – By using Plaids API we are able to gain better insight into what data makes up a transaction and account for a more realistic application.</a:t>
          </a:r>
          <a:endParaRPr lang="en-US" sz="2100" kern="1200"/>
        </a:p>
      </dsp:txBody>
      <dsp:txXfrm>
        <a:off x="7512882" y="1071918"/>
        <a:ext cx="3414946" cy="20489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9EC22-790F-437C-91EC-7BFB85C4E359}">
      <dsp:nvSpPr>
        <dsp:cNvPr id="0" name=""/>
        <dsp:cNvSpPr/>
      </dsp:nvSpPr>
      <dsp:spPr>
        <a:xfrm>
          <a:off x="0" y="44975"/>
          <a:ext cx="534474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React front end</a:t>
          </a:r>
          <a:endParaRPr lang="en-US" sz="2700" kern="1200"/>
        </a:p>
      </dsp:txBody>
      <dsp:txXfrm>
        <a:off x="32384" y="77359"/>
        <a:ext cx="5279974" cy="598621"/>
      </dsp:txXfrm>
    </dsp:sp>
    <dsp:sp modelId="{0CC35027-4EFD-4838-8817-04C647F4AAA2}">
      <dsp:nvSpPr>
        <dsp:cNvPr id="0" name=""/>
        <dsp:cNvSpPr/>
      </dsp:nvSpPr>
      <dsp:spPr>
        <a:xfrm>
          <a:off x="0" y="786125"/>
          <a:ext cx="534474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Java Service Layer</a:t>
          </a:r>
          <a:endParaRPr lang="en-US" sz="2700" kern="1200"/>
        </a:p>
      </dsp:txBody>
      <dsp:txXfrm>
        <a:off x="32384" y="818509"/>
        <a:ext cx="5279974" cy="598621"/>
      </dsp:txXfrm>
    </dsp:sp>
    <dsp:sp modelId="{B757EFBD-2720-411A-8C5A-A6DC4231536C}">
      <dsp:nvSpPr>
        <dsp:cNvPr id="0" name=""/>
        <dsp:cNvSpPr/>
      </dsp:nvSpPr>
      <dsp:spPr>
        <a:xfrm>
          <a:off x="0" y="1527276"/>
          <a:ext cx="534474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HTTP endpoints</a:t>
          </a:r>
          <a:endParaRPr lang="en-US" sz="2700" kern="1200"/>
        </a:p>
      </dsp:txBody>
      <dsp:txXfrm>
        <a:off x="32384" y="1559660"/>
        <a:ext cx="5279974" cy="598621"/>
      </dsp:txXfrm>
    </dsp:sp>
    <dsp:sp modelId="{91354376-A123-4D55-B5D5-BFB97B976921}">
      <dsp:nvSpPr>
        <dsp:cNvPr id="0" name=""/>
        <dsp:cNvSpPr/>
      </dsp:nvSpPr>
      <dsp:spPr>
        <a:xfrm>
          <a:off x="0" y="2268426"/>
          <a:ext cx="534474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SQL Database</a:t>
          </a:r>
          <a:endParaRPr lang="en-US" sz="2700" kern="1200"/>
        </a:p>
      </dsp:txBody>
      <dsp:txXfrm>
        <a:off x="32384" y="2300810"/>
        <a:ext cx="5279974" cy="598621"/>
      </dsp:txXfrm>
    </dsp:sp>
    <dsp:sp modelId="{6EF8A336-314D-4C27-9270-053451862F34}">
      <dsp:nvSpPr>
        <dsp:cNvPr id="0" name=""/>
        <dsp:cNvSpPr/>
      </dsp:nvSpPr>
      <dsp:spPr>
        <a:xfrm>
          <a:off x="0" y="3009576"/>
          <a:ext cx="534474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>
              <a:latin typeface="Aptos Display" panose="02110004020202020204"/>
            </a:rPr>
            <a:t>Spring Boot</a:t>
          </a:r>
        </a:p>
      </dsp:txBody>
      <dsp:txXfrm>
        <a:off x="32384" y="3041960"/>
        <a:ext cx="5279974" cy="598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AE0F2-504C-4D55-BA80-5DAD20014DFA}" type="datetimeFigureOut">
              <a:t>10/9/2026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6BF0E-BE90-457E-85F7-D7DC5F319A7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Romaan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6BF0E-BE90-457E-85F7-D7DC5F319A7E}" type="slidenum"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93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Ronnie said to shorten the time spent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6BF0E-BE90-457E-85F7-D7DC5F319A7E}" type="slidenum">
              <a:rPr lang="en-GB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15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8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12.png"/><Relationship Id="rId5" Type="http://schemas.openxmlformats.org/officeDocument/2006/relationships/diagramColors" Target="../diagrams/colors3.xml"/><Relationship Id="rId10" Type="http://schemas.openxmlformats.org/officeDocument/2006/relationships/image" Target="../media/image11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Team 3 Group Project</a:t>
            </a:r>
            <a:br>
              <a:rPr lang="en-GB" sz="4800">
                <a:solidFill>
                  <a:srgbClr val="FFFFFF"/>
                </a:solidFill>
              </a:rPr>
            </a:br>
            <a:r>
              <a:rPr lang="en-GB" sz="4800">
                <a:solidFill>
                  <a:srgbClr val="FFFFFF"/>
                </a:solidFill>
              </a:rPr>
              <a:t>Fraud Transaction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/>
              <a:t>Dorina Habravan, Reece Gilliland, Romaan Mahood, Sean Meaney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3809-E658-2F74-BEE2-8A468965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our Application does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999206-8B90-B291-977A-A5AB46563B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20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06DE0-FB1C-BE83-300E-BE4D5DC8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Motivation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022A74-7BB3-91ED-1401-AEAA62AE6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It is a bank's responsibility to track &amp; catch potentially fraudulent activity and we wanted to create an application that would make identifying fraudulent </a:t>
            </a:r>
            <a:r>
              <a:rPr lang="en-US" sz="2000" err="1"/>
              <a:t>behaviour</a:t>
            </a:r>
            <a:r>
              <a:rPr lang="en-US" sz="2000"/>
              <a:t> easier.</a:t>
            </a:r>
          </a:p>
          <a:p>
            <a:r>
              <a:rPr lang="en-US" sz="2000"/>
              <a:t>In 2025 £1.28 Billion was stolen through fraud in the UK, which is an increase of 4% from 2024.</a:t>
            </a:r>
          </a:p>
          <a:p>
            <a:r>
              <a:rPr lang="en-US" sz="2000"/>
              <a:t>There was also just over 4 Million confirmed cases in the same year</a:t>
            </a:r>
          </a:p>
          <a:p>
            <a:r>
              <a:rPr lang="en-US" sz="2000"/>
              <a:t>These figures highlight the current need for fraud prevention.</a:t>
            </a:r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br>
              <a:rPr lang="en-US" sz="2000"/>
            </a:br>
            <a:r>
              <a:rPr lang="en-US" sz="2000"/>
              <a:t>Statistics from the Annual Fraud Report 2026 - </a:t>
            </a:r>
            <a:r>
              <a:rPr lang="en-US" sz="2000">
                <a:ea typeface="+mn-lt"/>
                <a:cs typeface="+mn-lt"/>
              </a:rPr>
              <a:t>https://www.ukfinance.org.uk/system/files/2026-06/UK%20Finance%20Fraud%20Report%202026.pdf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5437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85096F-E650-46D6-834C-4054E3770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061BE38-1DAF-49A1-AA3A-7BEB3399C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8EFFF24-FCC8-4379-9678-AB3311535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92E8F9-AD41-4334-B292-1AB0F238D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74B130F-6E67-4737-BE99-2E32DED071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139C3CB-D4E4-4316-81BE-6D82DB67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56963E-8E83-4807-8E22-2CB7D45F1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DBC84E52-B8FA-F156-E614-BA1DE6B0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278" y="323873"/>
            <a:ext cx="2468018" cy="405320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75C268C-D419-4123-9FAD-0E2B7F9EE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584794"/>
            <a:ext cx="304800" cy="429768"/>
            <a:chOff x="215328" y="-46937"/>
            <a:chExt cx="304800" cy="277384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7E309C-A3BD-432E-8CB5-F0B642528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1F621C-4533-4835-ADE2-372F2763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EFC8245-5168-4DAF-930D-09A7BDDA6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192ED34-5046-4043-AEF8-2DF7C4806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6DE502F9-4DD7-4C51-C83D-DB1FB5B34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192" y="319881"/>
            <a:ext cx="3519760" cy="406330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7F464FAE-F85E-46DB-E0AB-52D3C3234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84" y="344774"/>
            <a:ext cx="3266408" cy="403559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6" y="5940561"/>
            <a:ext cx="1285875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3B5D68-C354-3EF5-FCF5-FB8DE3ED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82713"/>
            <a:ext cx="4550664" cy="2762433"/>
          </a:xfrm>
          <a:noFill/>
        </p:spPr>
        <p:txBody>
          <a:bodyPr>
            <a:normAutofit/>
          </a:bodyPr>
          <a:lstStyle/>
          <a:p>
            <a:r>
              <a:rPr lang="en-GB" sz="4800">
                <a:solidFill>
                  <a:schemeClr val="bg1"/>
                </a:solidFill>
              </a:rPr>
              <a:t>Project Flowcharts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AFE10-957C-5C58-536C-E9740CF2B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641597"/>
            <a:ext cx="5994666" cy="1519999"/>
          </a:xfrm>
          <a:noFill/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Flowcharts designed for each path.</a:t>
            </a:r>
          </a:p>
          <a:p>
            <a:r>
              <a:rPr lang="en-US" sz="1800">
                <a:solidFill>
                  <a:schemeClr val="bg1"/>
                </a:solidFill>
              </a:rPr>
              <a:t>Create</a:t>
            </a:r>
          </a:p>
          <a:p>
            <a:r>
              <a:rPr lang="en-US" sz="1800">
                <a:solidFill>
                  <a:schemeClr val="bg1"/>
                </a:solidFill>
              </a:rPr>
              <a:t>Update</a:t>
            </a:r>
          </a:p>
          <a:p>
            <a:r>
              <a:rPr lang="en-US" sz="1800">
                <a:solidFill>
                  <a:schemeClr val="bg1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291574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10A67-AE3F-4DCF-CF4B-F5BC85B84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GB" sz="4000"/>
              <a:t>Project Design – UML Class Diagram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9ECA2A3E-A3B9-8B7D-977E-1856EC89D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The Class diagram here showcases the different layers and features involved to establish the project.</a:t>
            </a:r>
          </a:p>
          <a:p>
            <a:endParaRPr lang="en-US"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service&#10;&#10;AI-generated content may be incorrect.">
            <a:extLst>
              <a:ext uri="{FF2B5EF4-FFF2-40B4-BE49-F238E27FC236}">
                <a16:creationId xmlns:a16="http://schemas.microsoft.com/office/drawing/2014/main" id="{AE4E75A1-0862-4C48-EE60-52788CCDCB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"/>
          <a:stretch>
            <a:fillRect/>
          </a:stretch>
        </p:blipFill>
        <p:spPr>
          <a:xfrm>
            <a:off x="6494781" y="1099556"/>
            <a:ext cx="4751716" cy="529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8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685C1-9DC2-9E15-B24B-9170E3FE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Why we build it this way</a:t>
            </a:r>
          </a:p>
        </p:txBody>
      </p:sp>
      <p:graphicFrame>
        <p:nvGraphicFramePr>
          <p:cNvPr id="30" name="Content Placeholder 5">
            <a:extLst>
              <a:ext uri="{FF2B5EF4-FFF2-40B4-BE49-F238E27FC236}">
                <a16:creationId xmlns:a16="http://schemas.microsoft.com/office/drawing/2014/main" id="{D51CF01B-ECE4-63CF-C97A-7A5EDB5EBA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8400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478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9E115D7-68EB-4590-9BD1-A56D94144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9C867-E2AB-DE91-5F90-E29F4665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6996"/>
            <a:ext cx="5344742" cy="1670984"/>
          </a:xfrm>
        </p:spPr>
        <p:txBody>
          <a:bodyPr anchor="b">
            <a:normAutofit/>
          </a:bodyPr>
          <a:lstStyle/>
          <a:p>
            <a:r>
              <a:rPr lang="en-GB" sz="4000"/>
              <a:t>Technology Stack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F503A298-0C65-A98E-6DDC-F3C036BC3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892896"/>
              </p:ext>
            </p:extLst>
          </p:nvPr>
        </p:nvGraphicFramePr>
        <p:xfrm>
          <a:off x="841248" y="2399719"/>
          <a:ext cx="5344742" cy="3717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Java logo and symbol, meaning, history, PNG">
            <a:extLst>
              <a:ext uri="{FF2B5EF4-FFF2-40B4-BE49-F238E27FC236}">
                <a16:creationId xmlns:a16="http://schemas.microsoft.com/office/drawing/2014/main" id="{A1CACA56-62C0-89D5-8EF1-6F7E1ABAC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9205" y="2309227"/>
            <a:ext cx="2602663" cy="1626664"/>
          </a:xfrm>
          <a:prstGeom prst="rect">
            <a:avLst/>
          </a:prstGeom>
        </p:spPr>
      </p:pic>
      <p:pic>
        <p:nvPicPr>
          <p:cNvPr id="7" name="Picture 6" descr="Berkenalan dengan HTTP - Blogisnanto">
            <a:extLst>
              <a:ext uri="{FF2B5EF4-FFF2-40B4-BE49-F238E27FC236}">
                <a16:creationId xmlns:a16="http://schemas.microsoft.com/office/drawing/2014/main" id="{AF761870-6585-7134-084E-4F5DD0701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271" y="4937227"/>
            <a:ext cx="2602663" cy="1294825"/>
          </a:xfrm>
          <a:prstGeom prst="rect">
            <a:avLst/>
          </a:prstGeom>
        </p:spPr>
      </p:pic>
      <p:pic>
        <p:nvPicPr>
          <p:cNvPr id="11" name="Picture 10" descr="Sql Server Database Symbol">
            <a:extLst>
              <a:ext uri="{FF2B5EF4-FFF2-40B4-BE49-F238E27FC236}">
                <a16:creationId xmlns:a16="http://schemas.microsoft.com/office/drawing/2014/main" id="{166BDBF9-C2B6-672F-2027-F68FBFD1BA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9205" y="4127951"/>
            <a:ext cx="2602663" cy="2602663"/>
          </a:xfrm>
          <a:prstGeom prst="rect">
            <a:avLst/>
          </a:prstGeom>
        </p:spPr>
      </p:pic>
      <p:pic>
        <p:nvPicPr>
          <p:cNvPr id="5" name="Picture 4" descr="A blue atom symbol with a black background&#10;&#10;AI-generated content may be incorrect.">
            <a:extLst>
              <a:ext uri="{FF2B5EF4-FFF2-40B4-BE49-F238E27FC236}">
                <a16:creationId xmlns:a16="http://schemas.microsoft.com/office/drawing/2014/main" id="{720EF2D8-8319-B1CD-0EC3-DB0F07EB9E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271" y="2127308"/>
            <a:ext cx="2602663" cy="2602663"/>
          </a:xfrm>
          <a:prstGeom prst="rect">
            <a:avLst/>
          </a:prstGeom>
        </p:spPr>
      </p:pic>
      <p:pic>
        <p:nvPicPr>
          <p:cNvPr id="18" name="Picture 17" descr="PatrickNv23 (PatrickNv23) · GitHub">
            <a:extLst>
              <a:ext uri="{FF2B5EF4-FFF2-40B4-BE49-F238E27FC236}">
                <a16:creationId xmlns:a16="http://schemas.microsoft.com/office/drawing/2014/main" id="{EC0F1198-2CEF-D5C1-1EB0-064F2FE6F8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2281" y="433374"/>
            <a:ext cx="1491212" cy="163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5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C289-121F-BA9E-AECE-83E02DED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Backend Database Setup</a:t>
            </a:r>
          </a:p>
        </p:txBody>
      </p:sp>
      <p:pic>
        <p:nvPicPr>
          <p:cNvPr id="6" name="Picture 5" descr="How to Build a Fintech App on AWS Using the Plaid API | AWS Partner ...">
            <a:extLst>
              <a:ext uri="{FF2B5EF4-FFF2-40B4-BE49-F238E27FC236}">
                <a16:creationId xmlns:a16="http://schemas.microsoft.com/office/drawing/2014/main" id="{6E6EAFBA-DED9-303E-7C38-2960F1359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05" t="29885" r="27507" b="24713"/>
          <a:stretch>
            <a:fillRect/>
          </a:stretch>
        </p:blipFill>
        <p:spPr>
          <a:xfrm>
            <a:off x="8270764" y="2449189"/>
            <a:ext cx="1524877" cy="622741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Sql Server Database Symbol">
            <a:extLst>
              <a:ext uri="{FF2B5EF4-FFF2-40B4-BE49-F238E27FC236}">
                <a16:creationId xmlns:a16="http://schemas.microsoft.com/office/drawing/2014/main" id="{EEAD9316-1B03-5D61-22F4-C882C6866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09" y="3721650"/>
            <a:ext cx="1090367" cy="1106079"/>
          </a:xfrm>
          <a:prstGeom prst="rect">
            <a:avLst/>
          </a:prstGeom>
        </p:spPr>
      </p:pic>
      <p:pic>
        <p:nvPicPr>
          <p:cNvPr id="8" name="Picture 7" descr="Java logo and symbol, meaning, history, PNG">
            <a:extLst>
              <a:ext uri="{FF2B5EF4-FFF2-40B4-BE49-F238E27FC236}">
                <a16:creationId xmlns:a16="http://schemas.microsoft.com/office/drawing/2014/main" id="{8330FE92-BE49-A0BC-F1FE-9777CD541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104" y="2199181"/>
            <a:ext cx="1478438" cy="921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85611B-BFB1-15EE-4293-77991A6C3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55" y="1791092"/>
            <a:ext cx="4376557" cy="4603423"/>
          </a:xfrm>
          <a:prstGeom prst="rect">
            <a:avLst/>
          </a:prstGeom>
        </p:spPr>
      </p:pic>
      <p:pic>
        <p:nvPicPr>
          <p:cNvPr id="10" name="Picture 9" descr="PatrickNv23 (PatrickNv23) · GitHub">
            <a:extLst>
              <a:ext uri="{FF2B5EF4-FFF2-40B4-BE49-F238E27FC236}">
                <a16:creationId xmlns:a16="http://schemas.microsoft.com/office/drawing/2014/main" id="{824B781C-F060-6A17-8F70-DA9958F376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4207" y="3844570"/>
            <a:ext cx="700727" cy="772570"/>
          </a:xfrm>
          <a:prstGeom prst="rect">
            <a:avLst/>
          </a:prstGeom>
        </p:spPr>
      </p:pic>
      <p:pic>
        <p:nvPicPr>
          <p:cNvPr id="11" name="Picture 10" descr="JSON Icon Set for Clear Data Representation">
            <a:extLst>
              <a:ext uri="{FF2B5EF4-FFF2-40B4-BE49-F238E27FC236}">
                <a16:creationId xmlns:a16="http://schemas.microsoft.com/office/drawing/2014/main" id="{EEC4123C-9A0F-8439-B5F4-0650A3CA3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5590" y="2211947"/>
            <a:ext cx="1037898" cy="109979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162934-7E5B-B536-46AC-2B031C9D73DC}"/>
              </a:ext>
            </a:extLst>
          </p:cNvPr>
          <p:cNvCxnSpPr/>
          <p:nvPr/>
        </p:nvCxnSpPr>
        <p:spPr>
          <a:xfrm>
            <a:off x="7167828" y="2785411"/>
            <a:ext cx="1084082" cy="502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2C164DD-6E51-EBA9-4837-996F8169156A}"/>
              </a:ext>
            </a:extLst>
          </p:cNvPr>
          <p:cNvSpPr txBox="1"/>
          <p:nvPr/>
        </p:nvSpPr>
        <p:spPr>
          <a:xfrm>
            <a:off x="7348508" y="2329782"/>
            <a:ext cx="2743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50">
                <a:solidFill>
                  <a:srgbClr val="000000"/>
                </a:solidFill>
              </a:rPr>
              <a:t>HTTP</a:t>
            </a:r>
            <a:endParaRPr lang="en-US" sz="1050">
              <a:solidFill>
                <a:srgbClr val="000000"/>
              </a:solidFill>
            </a:endParaRPr>
          </a:p>
          <a:p>
            <a:r>
              <a:rPr lang="en-GB" sz="1050">
                <a:solidFill>
                  <a:srgbClr val="000000"/>
                </a:solidFill>
              </a:rPr>
              <a:t> request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7E06EE-CE87-5CCE-3725-500F49FBC6BC}"/>
              </a:ext>
            </a:extLst>
          </p:cNvPr>
          <p:cNvCxnSpPr/>
          <p:nvPr/>
        </p:nvCxnSpPr>
        <p:spPr>
          <a:xfrm flipV="1">
            <a:off x="9799477" y="2761843"/>
            <a:ext cx="1052659" cy="471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5D1B02-EFA8-532F-DCAD-74FB45C85B6C}"/>
              </a:ext>
            </a:extLst>
          </p:cNvPr>
          <p:cNvSpPr txBox="1"/>
          <p:nvPr/>
        </p:nvSpPr>
        <p:spPr>
          <a:xfrm>
            <a:off x="9799477" y="25340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>
                <a:solidFill>
                  <a:srgbClr val="000000"/>
                </a:solidFill>
              </a:rPr>
              <a:t>Returns</a:t>
            </a:r>
          </a:p>
        </p:txBody>
      </p:sp>
      <p:pic>
        <p:nvPicPr>
          <p:cNvPr id="17" name="Picture 16" descr="Java logo and symbol, meaning, history, PNG">
            <a:extLst>
              <a:ext uri="{FF2B5EF4-FFF2-40B4-BE49-F238E27FC236}">
                <a16:creationId xmlns:a16="http://schemas.microsoft.com/office/drawing/2014/main" id="{5F2181F5-27A7-8CF9-E112-A12215493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8868" y="3841016"/>
            <a:ext cx="1124933" cy="66184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20F9E6-6DFC-5C91-5374-1394DF3B9625}"/>
              </a:ext>
            </a:extLst>
          </p:cNvPr>
          <p:cNvCxnSpPr/>
          <p:nvPr/>
        </p:nvCxnSpPr>
        <p:spPr>
          <a:xfrm>
            <a:off x="11307765" y="3319596"/>
            <a:ext cx="15711" cy="63630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5D51B1-B21C-294F-AB30-8C363537D7D0}"/>
              </a:ext>
            </a:extLst>
          </p:cNvPr>
          <p:cNvCxnSpPr/>
          <p:nvPr/>
        </p:nvCxnSpPr>
        <p:spPr>
          <a:xfrm flipH="1">
            <a:off x="9689498" y="4325122"/>
            <a:ext cx="1036948" cy="785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81BE5F-9143-C803-1E8F-356656A4415D}"/>
              </a:ext>
            </a:extLst>
          </p:cNvPr>
          <p:cNvSpPr txBox="1"/>
          <p:nvPr/>
        </p:nvSpPr>
        <p:spPr>
          <a:xfrm>
            <a:off x="9799477" y="3955905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200">
                <a:solidFill>
                  <a:srgbClr val="000000"/>
                </a:solidFill>
              </a:rPr>
              <a:t>Converts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776018-0617-4F30-EB2C-080864FFE882}"/>
              </a:ext>
            </a:extLst>
          </p:cNvPr>
          <p:cNvCxnSpPr/>
          <p:nvPr/>
        </p:nvCxnSpPr>
        <p:spPr>
          <a:xfrm flipH="1" flipV="1">
            <a:off x="7698563" y="4273509"/>
            <a:ext cx="1096710" cy="71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654B96-9894-056B-CFD5-C133B6ECA04C}"/>
              </a:ext>
            </a:extLst>
          </p:cNvPr>
          <p:cNvSpPr txBox="1"/>
          <p:nvPr/>
        </p:nvSpPr>
        <p:spPr>
          <a:xfrm>
            <a:off x="7827034" y="3903287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solidFill>
                  <a:srgbClr val="000000"/>
                </a:solidFill>
              </a:rPr>
              <a:t>Loads using</a:t>
            </a:r>
          </a:p>
        </p:txBody>
      </p:sp>
    </p:spTree>
    <p:extLst>
      <p:ext uri="{BB962C8B-B14F-4D97-AF65-F5344CB8AC3E}">
        <p14:creationId xmlns:p14="http://schemas.microsoft.com/office/powerpoint/2010/main" val="4162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0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BFC7F-CEB4-CE8D-3FAF-652304E28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88" y="1975753"/>
            <a:ext cx="5396361" cy="488371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Design &amp; Development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• Translated Figma designs into reusable React components 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• Built a responsive interface using JavaScript, HTML and CSS 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• Implemented navigation with React Router</a:t>
            </a:r>
            <a:endParaRPr lang="en-US" sz="2000"/>
          </a:p>
          <a:p>
            <a:pPr>
              <a:buNone/>
            </a:pP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Backend Integration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• Connected React to Java REST APIs 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• Retrieved accounts, transactions and fraud cases 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• Implemented case creation, transaction selection and case updates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E21638-6043-3745-FEBF-AF43BBE2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019" y="2415011"/>
            <a:ext cx="6371839" cy="42275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CBC6CA-0EAC-8A5D-CC56-E3B204D3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610" y="687370"/>
            <a:ext cx="8442271" cy="13954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D30276-6715-1C55-5F25-D7236DD25E64}"/>
              </a:ext>
            </a:extLst>
          </p:cNvPr>
          <p:cNvSpPr txBox="1"/>
          <p:nvPr/>
        </p:nvSpPr>
        <p:spPr>
          <a:xfrm>
            <a:off x="140873" y="9605"/>
            <a:ext cx="605758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chemeClr val="accent2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Frontend Implementation​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39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E8E01-9437-E1B8-D78E-B52B76139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8" y="2120179"/>
            <a:ext cx="3913733" cy="276970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Functional Testing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Page navigation 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Account search 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Transaction selection </a:t>
            </a:r>
          </a:p>
          <a:p>
            <a:pPr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Case creation &amp; decisions</a:t>
            </a:r>
            <a:endParaRPr lang="en-US" sz="2000"/>
          </a:p>
          <a:p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247FA-29DA-6771-6436-D633F307E9A3}"/>
              </a:ext>
            </a:extLst>
          </p:cNvPr>
          <p:cNvSpPr txBox="1"/>
          <p:nvPr/>
        </p:nvSpPr>
        <p:spPr>
          <a:xfrm>
            <a:off x="217714" y="71397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</a:rPr>
              <a:t>Validating user workflows and backend communication</a:t>
            </a:r>
            <a:r>
              <a:rPr lang="en-US" sz="1800" b="0" i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Aptos"/>
                <a:cs typeface="Aptos"/>
              </a:rPr>
              <a:t>​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264EE-0EB7-7532-3706-2E2C7A3E00D6}"/>
              </a:ext>
            </a:extLst>
          </p:cNvPr>
          <p:cNvSpPr txBox="1"/>
          <p:nvPr/>
        </p:nvSpPr>
        <p:spPr>
          <a:xfrm>
            <a:off x="166487" y="48025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 baseline="0">
                <a:solidFill>
                  <a:srgbClr val="C25115"/>
                </a:solidFill>
                <a:latin typeface="Calibri"/>
              </a:rPr>
              <a:t>Frontend Testing &amp; Integration</a:t>
            </a:r>
            <a:r>
              <a:rPr sz="3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/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D6589-197E-7CCB-69D4-E876B247E825}"/>
              </a:ext>
            </a:extLst>
          </p:cNvPr>
          <p:cNvSpPr txBox="1"/>
          <p:nvPr/>
        </p:nvSpPr>
        <p:spPr>
          <a:xfrm>
            <a:off x="4226218" y="2122714"/>
            <a:ext cx="3739564" cy="27699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>
                <a:cs typeface="Arial"/>
              </a:rPr>
              <a:t>API Integration​</a:t>
            </a:r>
            <a:endParaRPr lang="en-US">
              <a:cs typeface="Arial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React ↔ Spring Boot </a:t>
            </a:r>
            <a:endParaRPr lang="en-US" sz="20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REST API requests </a:t>
            </a:r>
            <a:endParaRPr lang="en-US" sz="20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Data retrieval</a:t>
            </a:r>
            <a:endParaRPr lang="en-US" sz="200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lvl="0" indent="-457200" algn="l">
              <a:lnSpc>
                <a:spcPct val="150000"/>
              </a:lnSpc>
              <a:buFont typeface="Arial"/>
              <a:buChar char="•"/>
            </a:pPr>
            <a:r>
              <a:rPr lang="en-US" sz="200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Backend response display</a:t>
            </a:r>
            <a:r>
              <a:rPr lang="en-US" sz="200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 sz="2000"/>
          </a:p>
          <a:p>
            <a:pPr algn="ctr"/>
            <a:endParaRPr lang="en-GB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D1204-03B1-41A7-47E0-F875C619FFFF}"/>
              </a:ext>
            </a:extLst>
          </p:cNvPr>
          <p:cNvSpPr txBox="1"/>
          <p:nvPr/>
        </p:nvSpPr>
        <p:spPr>
          <a:xfrm>
            <a:off x="8151479" y="2122715"/>
            <a:ext cx="3707547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ptos"/>
                <a:ea typeface="Arial"/>
                <a:cs typeface="Arial"/>
              </a:rPr>
              <a:t>Issues Resolved​</a:t>
            </a: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CORS configuration </a:t>
            </a:r>
            <a:endParaRPr lang="en-US"/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Currency display </a:t>
            </a: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Risk reasons </a:t>
            </a: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457200" lvl="0" indent="-457200" algn="l">
              <a:lnSpc>
                <a:spcPct val="15000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Team debugging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/>
          </a:p>
          <a:p>
            <a:pPr lvl="0" algn="ctr" rtl="0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69527-F18B-8DE9-5782-9B1F3AFF703B}"/>
              </a:ext>
            </a:extLst>
          </p:cNvPr>
          <p:cNvSpPr txBox="1"/>
          <p:nvPr/>
        </p:nvSpPr>
        <p:spPr>
          <a:xfrm>
            <a:off x="160084" y="5004227"/>
            <a:ext cx="1158367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0" indent="-457200" algn="l" rtl="0">
              <a:lnSpc>
                <a:spcPct val="15000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chemeClr val="accent2">
                    <a:lumMod val="76000"/>
                  </a:schemeClr>
                </a:solidFill>
                <a:latin typeface="Aptos"/>
                <a:ea typeface="Arial"/>
                <a:cs typeface="Arial"/>
              </a:rPr>
              <a:t>TESTING OUTCOME​</a:t>
            </a:r>
            <a:r>
              <a:rPr lang="en-US" sz="2000" b="0" i="0">
                <a:solidFill>
                  <a:schemeClr val="accent2">
                    <a:lumMod val="76000"/>
                  </a:schemeClr>
                </a:solidFill>
                <a:latin typeface="Aptos"/>
                <a:ea typeface="Arial"/>
                <a:cs typeface="Arial"/>
              </a:rPr>
              <a:t>​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  <a:p>
            <a:pPr marL="457200" lvl="0" indent="-457200" algn="l" rtl="0">
              <a:lnSpc>
                <a:spcPct val="15000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Core frontend workflows manually tested and integrated with backend services.​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Integration issues resolved, including CORS, currency mapping, and risk reason display.</a:t>
            </a:r>
            <a:endParaRPr lang="en-US" sz="2000" b="0" i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0B0A6A-BCD4-8543-34CE-83EB0F786E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22" t="-6570" r="10059" b="4930"/>
          <a:stretch>
            <a:fillRect/>
          </a:stretch>
        </p:blipFill>
        <p:spPr>
          <a:xfrm>
            <a:off x="125756" y="1036255"/>
            <a:ext cx="11940178" cy="9200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777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B1BF5-328A-3F7D-4B5E-91216794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Project Run Through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9F555-D216-C57A-4772-5CD9C6B59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Let's do a demonstration!</a:t>
            </a:r>
          </a:p>
        </p:txBody>
      </p:sp>
      <p:pic>
        <p:nvPicPr>
          <p:cNvPr id="4" name="Picture 3" descr="Meta Analysis Stock Photos, Images and Backgrounds for Free Download">
            <a:extLst>
              <a:ext uri="{FF2B5EF4-FFF2-40B4-BE49-F238E27FC236}">
                <a16:creationId xmlns:a16="http://schemas.microsoft.com/office/drawing/2014/main" id="{BB55B068-8DB1-5626-09EE-3ED9E47A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01" r="21393" b="-2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2403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AC695-490C-57D4-DBD2-15E83A130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46" y="785682"/>
            <a:ext cx="3583934" cy="30488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Evaluation 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</a:t>
            </a:r>
            <a:br>
              <a:rPr lang="en-US" sz="2800" kern="1200">
                <a:solidFill>
                  <a:schemeClr val="bg1"/>
                </a:solidFill>
              </a:rPr>
            </a:b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Lessons Learned </a:t>
            </a:r>
            <a:endParaRPr lang="en-US" sz="2800" kern="12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4681D-5963-45DF-23C5-52BDD70E7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8993" y="1412489"/>
            <a:ext cx="2926080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900"/>
          </a:p>
          <a:p>
            <a:r>
              <a:rPr lang="en-US" sz="1900"/>
              <a:t>Collaborative Programming:</a:t>
            </a:r>
          </a:p>
          <a:p>
            <a:pPr lvl="1"/>
            <a:r>
              <a:rPr lang="en-US" sz="1900"/>
              <a:t>Being aware of the rest of the project</a:t>
            </a:r>
          </a:p>
          <a:p>
            <a:pPr lvl="1"/>
            <a:r>
              <a:rPr lang="en-US" sz="1900"/>
              <a:t>Commits and merging</a:t>
            </a:r>
          </a:p>
          <a:p>
            <a:pPr marL="457200" lvl="1"/>
            <a:endParaRPr lang="en-US" sz="1900"/>
          </a:p>
          <a:p>
            <a:r>
              <a:rPr lang="en-US" sz="1900"/>
              <a:t>Agile development:</a:t>
            </a:r>
          </a:p>
          <a:p>
            <a:pPr lvl="1"/>
            <a:r>
              <a:rPr lang="en-US" sz="1900"/>
              <a:t>Rapid design implementation</a:t>
            </a:r>
          </a:p>
          <a:p>
            <a:pPr lvl="1"/>
            <a:r>
              <a:rPr lang="en-US" sz="1900"/>
              <a:t>Cleaning up redundant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BDD8D-6859-C2B0-A968-66225069F414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/>
              <a:t>User Requirements:</a:t>
            </a:r>
          </a:p>
          <a:p>
            <a:pPr marL="74295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900"/>
              <a:t>Researching financial auditing</a:t>
            </a:r>
          </a:p>
          <a:p>
            <a:pPr marL="74295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17252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1C875-5B7A-CED1-21AB-E3DAF163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Version 2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A8DF46-FFDD-5F4B-0552-02C239257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51543-F2DF-421B-267F-D29D892AA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/>
              <a:t>+Multiple </a:t>
            </a:r>
            <a:r>
              <a:rPr lang="en-US" sz="1600">
                <a:ea typeface="+mn-lt"/>
                <a:cs typeface="+mn-lt"/>
              </a:rPr>
              <a:t>simultaneous users</a:t>
            </a:r>
          </a:p>
          <a:p>
            <a:endParaRPr lang="en-US" sz="1600"/>
          </a:p>
          <a:p>
            <a:pPr marL="0" indent="0">
              <a:buNone/>
            </a:pPr>
            <a:r>
              <a:rPr lang="en-US" sz="1600"/>
              <a:t>+Auditor accounts with log in and action logs</a:t>
            </a:r>
          </a:p>
          <a:p>
            <a:endParaRPr lang="en-US" sz="1600"/>
          </a:p>
          <a:p>
            <a:pPr marL="0" indent="0">
              <a:buNone/>
            </a:pPr>
            <a:r>
              <a:rPr lang="en-US" sz="1600"/>
              <a:t>+Display </a:t>
            </a:r>
            <a:r>
              <a:rPr lang="en-US" sz="1600">
                <a:ea typeface="+mn-lt"/>
                <a:cs typeface="+mn-lt"/>
              </a:rPr>
              <a:t>similar transactions</a:t>
            </a:r>
            <a:endParaRPr lang="en-US" sz="1600"/>
          </a:p>
          <a:p>
            <a:endParaRPr lang="en-US" sz="1600"/>
          </a:p>
          <a:p>
            <a:pPr marL="0" indent="0">
              <a:buNone/>
            </a:pPr>
            <a:r>
              <a:rPr lang="en-US" sz="1600"/>
              <a:t>+Attach supporting documents to case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+https communications between frontend and rest API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20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3B12C-28A7-883B-FDB1-685E92E5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FDB63E73-2E5F-2CFA-62D9-1167813E2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4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Team 3 Group Project Fraud Transaction Management System</vt:lpstr>
      <vt:lpstr>What our Application does</vt:lpstr>
      <vt:lpstr>Project Motivation</vt:lpstr>
      <vt:lpstr>Project Flowcharts</vt:lpstr>
      <vt:lpstr>Project Design – UML Class Diagram</vt:lpstr>
      <vt:lpstr>Why we build it this way</vt:lpstr>
      <vt:lpstr>Technology Stack</vt:lpstr>
      <vt:lpstr>Backend Database Setup</vt:lpstr>
      <vt:lpstr>PowerPoint Presentation</vt:lpstr>
      <vt:lpstr>PowerPoint Presentation</vt:lpstr>
      <vt:lpstr>Project Run Through</vt:lpstr>
      <vt:lpstr>Project Evaluation  - Lessons Learned </vt:lpstr>
      <vt:lpstr>Version 2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2026-10-08T11:25:47Z</dcterms:created>
  <dcterms:modified xsi:type="dcterms:W3CDTF">2026-10-09T14:56:14Z</dcterms:modified>
</cp:coreProperties>
</file>